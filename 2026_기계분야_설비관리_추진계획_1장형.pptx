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560000" cy="10692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68000" y="486000"/>
            <a:ext cx="306000" cy="259200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1999" y="514800"/>
            <a:ext cx="6210000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경영전략 연계 부서활동 성과 및 회사평가 우수달성 기여</a:t>
            </a:r>
          </a:p>
        </p:txBody>
      </p:sp>
      <p:sp>
        <p:nvSpPr>
          <p:cNvPr id="4" name="Rectangle 3"/>
          <p:cNvSpPr/>
          <p:nvPr/>
        </p:nvSpPr>
        <p:spPr>
          <a:xfrm>
            <a:off x="468000" y="774000"/>
            <a:ext cx="6623999" cy="1270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68000" y="864000"/>
            <a:ext cx="666000" cy="266400"/>
          </a:xfrm>
          <a:prstGeom prst="rect">
            <a:avLst/>
          </a:prstGeom>
          <a:solidFill>
            <a:srgbClr val="D9D9D9"/>
          </a:solidFill>
          <a:ln w="9525">
            <a:solidFill>
              <a:srgbClr val="A6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추진배경</a:t>
            </a:r>
          </a:p>
        </p:txBody>
      </p:sp>
      <p:sp>
        <p:nvSpPr>
          <p:cNvPr id="6" name="Rectangle 5"/>
          <p:cNvSpPr/>
          <p:nvPr/>
        </p:nvSpPr>
        <p:spPr>
          <a:xfrm>
            <a:off x="1134000" y="864000"/>
            <a:ext cx="5957999" cy="266400"/>
          </a:xfrm>
          <a:prstGeom prst="rect">
            <a:avLst/>
          </a:prstGeom>
          <a:noFill/>
          <a:ln w="9525">
            <a:solidFill>
              <a:srgbClr val="A6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9200" rIns="36000" tIns="28800" bIns="1800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• CEO 경영방침 『가치창출』 : 경영효율성 통한 수익 창출 및 정비품질 개선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8000" y="1231200"/>
            <a:ext cx="6623999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□ </a:t>
            </a:r>
            <a:r>
              <a:rPr sz="12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(가치창출) </a:t>
            </a:r>
            <a:r>
              <a:rPr sz="12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전 분야 설비개선을 통한 정비비 절감으로 재무개선 기여</a:t>
            </a:r>
          </a:p>
        </p:txBody>
      </p:sp>
      <p:sp>
        <p:nvSpPr>
          <p:cNvPr id="8" name="Rectangle 7"/>
          <p:cNvSpPr/>
          <p:nvPr/>
        </p:nvSpPr>
        <p:spPr>
          <a:xfrm>
            <a:off x="522000" y="1476000"/>
            <a:ext cx="3078000" cy="201600"/>
          </a:xfrm>
          <a:prstGeom prst="rect">
            <a:avLst/>
          </a:prstGeom>
          <a:solidFill>
            <a:srgbClr val="D9D9D9"/>
          </a:solidFill>
          <a:ln w="9525">
            <a:solidFill>
              <a:srgbClr val="A6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0" bIns="0"/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국산화 개발 정비비 절감 계획(절감액, 년)</a:t>
            </a:r>
          </a:p>
        </p:txBody>
      </p:sp>
      <p:sp>
        <p:nvSpPr>
          <p:cNvPr id="9" name="Rectangle 8"/>
          <p:cNvSpPr/>
          <p:nvPr/>
        </p:nvSpPr>
        <p:spPr>
          <a:xfrm>
            <a:off x="3924000" y="1476000"/>
            <a:ext cx="3078000" cy="201600"/>
          </a:xfrm>
          <a:prstGeom prst="rect">
            <a:avLst/>
          </a:prstGeom>
          <a:solidFill>
            <a:srgbClr val="D9D9D9"/>
          </a:solidFill>
          <a:ln w="9525">
            <a:solidFill>
              <a:srgbClr val="A6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0" bIns="0"/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기회정비·자재운영 절감 계획(절감액, 년)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22000" y="1677600"/>
          <a:ext cx="3078000" cy="7848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78000"/>
                <a:gridCol w="900000"/>
              </a:tblGrid>
              <a:tr h="2232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개선 과제</a:t>
                      </a:r>
                    </a:p>
                  </a:txBody>
                  <a:tcPr marL="43200" marR="43200" marT="14400" marB="1440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절감액</a:t>
                      </a:r>
                    </a:p>
                  </a:txBody>
                  <a:tcPr marL="43200" marR="43200" marT="14400" marB="14400" anchor="ctr">
                    <a:solidFill>
                      <a:srgbClr val="D9D9D9"/>
                    </a:solidFill>
                  </a:tcPr>
                </a:tc>
              </a:tr>
              <a:tr h="1872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① HRSG HP BP CV 국산화</a:t>
                      </a:r>
                    </a:p>
                  </a:txBody>
                  <a:tcPr marL="50400" marR="50400" marT="216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1.7억원</a:t>
                      </a:r>
                    </a:p>
                  </a:txBody>
                  <a:tcPr marL="50400" marR="50400" marT="21600" marB="14400" anchor="ctr">
                    <a:solidFill>
                      <a:srgbClr val="FFFFFF"/>
                    </a:solidFill>
                  </a:tcPr>
                </a:tc>
              </a:tr>
              <a:tr h="1872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② 가스밸브 내부부품 국산화</a:t>
                      </a:r>
                    </a:p>
                  </a:txBody>
                  <a:tcPr marL="50400" marR="50400" marT="216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1.2억원</a:t>
                      </a:r>
                    </a:p>
                  </a:txBody>
                  <a:tcPr marL="50400" marR="50400" marT="21600" marB="14400" anchor="ctr">
                    <a:solidFill>
                      <a:srgbClr val="FFFFFF"/>
                    </a:solidFill>
                  </a:tcPr>
                </a:tc>
              </a:tr>
              <a:tr h="1872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③ Barring Device Spring 국산화</a:t>
                      </a:r>
                    </a:p>
                  </a:txBody>
                  <a:tcPr marL="50400" marR="50400" marT="216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0.33억원</a:t>
                      </a:r>
                    </a:p>
                  </a:txBody>
                  <a:tcPr marL="50400" marR="50400" marT="21600" marB="144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924000" y="1677600"/>
          <a:ext cx="3078000" cy="7848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78000"/>
                <a:gridCol w="900000"/>
              </a:tblGrid>
              <a:tr h="2232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개선 과제</a:t>
                      </a:r>
                    </a:p>
                  </a:txBody>
                  <a:tcPr marL="43200" marR="43200" marT="14400" marB="1440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절감액</a:t>
                      </a:r>
                    </a:p>
                  </a:txBody>
                  <a:tcPr marL="43200" marR="43200" marT="14400" marB="14400" anchor="ctr">
                    <a:solidFill>
                      <a:srgbClr val="D9D9D9"/>
                    </a:solidFill>
                  </a:tcPr>
                </a:tc>
              </a:tr>
              <a:tr h="1872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① HRSG Tube Leak 기회정비</a:t>
                      </a:r>
                    </a:p>
                  </a:txBody>
                  <a:tcPr marL="50400" marR="50400" marT="216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5.66억원</a:t>
                      </a:r>
                    </a:p>
                  </a:txBody>
                  <a:tcPr marL="50400" marR="50400" marT="21600" marB="14400" anchor="ctr">
                    <a:solidFill>
                      <a:srgbClr val="FFFFFF"/>
                    </a:solidFill>
                  </a:tcPr>
                </a:tc>
              </a:tr>
              <a:tr h="1872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② 펌프 타 모델 예비품 활용</a:t>
                      </a:r>
                    </a:p>
                  </a:txBody>
                  <a:tcPr marL="50400" marR="50400" marT="216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0.6억원</a:t>
                      </a:r>
                    </a:p>
                  </a:txBody>
                  <a:tcPr marL="50400" marR="50400" marT="21600" marB="14400" anchor="ctr">
                    <a:solidFill>
                      <a:srgbClr val="FFFFFF"/>
                    </a:solidFill>
                  </a:tcPr>
                </a:tc>
              </a:tr>
              <a:tr h="1872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③ 핵심자재 공동운영(34종)</a:t>
                      </a:r>
                    </a:p>
                  </a:txBody>
                  <a:tcPr marL="50400" marR="50400" marT="216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5.0억원</a:t>
                      </a:r>
                    </a:p>
                  </a:txBody>
                  <a:tcPr marL="50400" marR="50400" marT="21600" marB="144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3689999" y="1954800"/>
            <a:ext cx="324000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+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8000" y="2570400"/>
            <a:ext cx="6623999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□ </a:t>
            </a:r>
            <a:r>
              <a:rPr sz="12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(혁신자립) </a:t>
            </a:r>
            <a:r>
              <a:rPr sz="12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자재 공동운영 체계 구축을 통한 예비품 운영 효율화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58000" y="2815200"/>
            <a:ext cx="2015999" cy="522000"/>
          </a:xfrm>
          <a:prstGeom prst="rect">
            <a:avLst/>
          </a:prstGeom>
          <a:solidFill>
            <a:srgbClr val="F2F2F2"/>
          </a:solidFill>
          <a:ln w="9525">
            <a:solidFill>
              <a:srgbClr val="A6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54000" tIns="36000" bIns="1800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('26.2월) TF 발족</a:t>
            </a:r>
          </a:p>
          <a:p>
            <a:pPr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• 핵심자재 597종 선정</a:t>
            </a:r>
          </a:p>
        </p:txBody>
      </p:sp>
      <p:sp>
        <p:nvSpPr>
          <p:cNvPr id="15" name="Can 14"/>
          <p:cNvSpPr/>
          <p:nvPr/>
        </p:nvSpPr>
        <p:spPr>
          <a:xfrm>
            <a:off x="2606399" y="2997000"/>
            <a:ext cx="136800" cy="158400"/>
          </a:xfrm>
          <a:prstGeom prst="can">
            <a:avLst/>
          </a:prstGeom>
          <a:solidFill>
            <a:srgbClr val="8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71999" y="2815200"/>
            <a:ext cx="2015999" cy="522000"/>
          </a:xfrm>
          <a:prstGeom prst="rect">
            <a:avLst/>
          </a:prstGeom>
          <a:solidFill>
            <a:srgbClr val="F2F2F2"/>
          </a:solidFill>
          <a:ln w="9525">
            <a:solidFill>
              <a:srgbClr val="A6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54000" tIns="36000" bIns="1800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('26.9월) 대상 확정</a:t>
            </a:r>
          </a:p>
          <a:p>
            <a:pPr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• 공동운영 자재 34종</a:t>
            </a:r>
          </a:p>
        </p:txBody>
      </p:sp>
      <p:sp>
        <p:nvSpPr>
          <p:cNvPr id="17" name="Can 16"/>
          <p:cNvSpPr/>
          <p:nvPr/>
        </p:nvSpPr>
        <p:spPr>
          <a:xfrm>
            <a:off x="4820398" y="2997000"/>
            <a:ext cx="136800" cy="158400"/>
          </a:xfrm>
          <a:prstGeom prst="can">
            <a:avLst/>
          </a:prstGeom>
          <a:solidFill>
            <a:srgbClr val="8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985998" y="2815200"/>
            <a:ext cx="2015999" cy="522000"/>
          </a:xfrm>
          <a:prstGeom prst="rect">
            <a:avLst/>
          </a:prstGeom>
          <a:solidFill>
            <a:srgbClr val="F2F2F2"/>
          </a:solidFill>
          <a:ln w="9525">
            <a:solidFill>
              <a:srgbClr val="A6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54000" tIns="36000" bIns="1800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('26.9월~) 공동운영 시행</a:t>
            </a:r>
          </a:p>
          <a:p>
            <a:pPr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• 연 5억원 예산절감</a:t>
            </a:r>
          </a:p>
          <a:p>
            <a:pPr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• GT 예비 Rotor 88억원 절감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68000" y="3445200"/>
            <a:ext cx="306000" cy="259200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1999" y="3474000"/>
            <a:ext cx="6210000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조직평가 우수 달성 기여를 위한 핵심활동 추진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68000" y="3733200"/>
            <a:ext cx="6623999" cy="1270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68000" y="3823200"/>
            <a:ext cx="666000" cy="266400"/>
          </a:xfrm>
          <a:prstGeom prst="rect">
            <a:avLst/>
          </a:prstGeom>
          <a:solidFill>
            <a:srgbClr val="D9D9D9"/>
          </a:solidFill>
          <a:ln w="9525">
            <a:solidFill>
              <a:srgbClr val="A6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추진배경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134000" y="3823200"/>
            <a:ext cx="5957999" cy="266400"/>
          </a:xfrm>
          <a:prstGeom prst="rect">
            <a:avLst/>
          </a:prstGeom>
          <a:noFill/>
          <a:ln w="9525">
            <a:solidFill>
              <a:srgbClr val="A6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9200" rIns="36000" tIns="28800" bIns="1800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• CEO 경영방침 『혁신도전』 : 혁신기술 활성화 및 유연운전 심화 리스크 적극 예방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8000" y="4190400"/>
            <a:ext cx="6623999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□ </a:t>
            </a:r>
            <a:r>
              <a:rPr sz="12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(혁신도전) </a:t>
            </a:r>
            <a:r>
              <a:rPr sz="12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기술제안(특허·국산화 제안) 및 연구개발 통한 현장 혁신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6000" y="4435200"/>
            <a:ext cx="6515999" cy="43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○ (기술제안) '25년 대비 공격적 목표(특허 7→14건, 국산화 1→3종) 설정</a:t>
            </a:r>
          </a:p>
          <a:p>
            <a:pPr>
              <a:lnSpc>
                <a:spcPct val="105000"/>
              </a:lnSpc>
              <a:spcBef>
                <a:spcPts val="100"/>
              </a:spcBef>
              <a:spcAft>
                <a:spcPts val="0"/>
              </a:spcAft>
            </a:pPr>
            <a:r>
              <a:rPr sz="10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○ (연구개발) HRSG 신축이음관 고성능·고내구성 개발 및 외산 국산화(HP BP CV)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8000" y="4867200"/>
            <a:ext cx="6623999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□ </a:t>
            </a:r>
            <a:r>
              <a:rPr sz="12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(잠재·취약) </a:t>
            </a:r>
            <a:r>
              <a:rPr sz="12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유연운전 확대에 따른 취약설비 개선으로 불시정지 Zero 실현</a:t>
            </a:r>
          </a:p>
        </p:txBody>
      </p:sp>
      <p:graphicFrame>
        <p:nvGraphicFramePr>
          <p:cNvPr id="27" name="Table 26"/>
          <p:cNvGraphicFramePr>
            <a:graphicFrameLocks noGrp="1"/>
          </p:cNvGraphicFramePr>
          <p:nvPr/>
        </p:nvGraphicFramePr>
        <p:xfrm>
          <a:off x="558000" y="5112000"/>
          <a:ext cx="6515999" cy="972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15999"/>
                <a:gridCol w="2268000"/>
                <a:gridCol w="2232000"/>
              </a:tblGrid>
              <a:tr h="2232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5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현황 및 문제점</a:t>
                      </a:r>
                    </a:p>
                  </a:txBody>
                  <a:tcPr marL="43200" marR="43200" marT="14400" marB="1440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5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추진 계획</a:t>
                      </a:r>
                    </a:p>
                  </a:txBody>
                  <a:tcPr marL="43200" marR="43200" marT="14400" marB="1440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5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기대 효과</a:t>
                      </a:r>
                    </a:p>
                  </a:txBody>
                  <a:tcPr marL="43200" marR="43200" marT="14400" marB="14400" anchor="ctr">
                    <a:solidFill>
                      <a:srgbClr val="D9D9D9"/>
                    </a:solidFill>
                  </a:tcPr>
                </a:tc>
              </a:tr>
              <a:tr h="1872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• 가스터빈 연소가스 온도 불균형</a:t>
                      </a:r>
                    </a:p>
                  </a:txBody>
                  <a:tcPr marL="50400" marR="50400" marT="216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• 스트레이너 이격거리·재질 개선</a:t>
                      </a:r>
                    </a:p>
                  </a:txBody>
                  <a:tcPr marL="50400" marR="50400" marT="216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• 강제 출력감발 0건 달성</a:t>
                      </a:r>
                    </a:p>
                  </a:txBody>
                  <a:tcPr marL="50400" marR="50400" marT="21600" marB="14400" anchor="ctr">
                    <a:solidFill>
                      <a:srgbClr val="FFFFFF"/>
                    </a:solidFill>
                  </a:tcPr>
                </a:tc>
              </a:tr>
              <a:tr h="1872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• ST 작동유 축압기 손상</a:t>
                      </a:r>
                    </a:p>
                  </a:txBody>
                  <a:tcPr marL="50400" marR="50400" marT="216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• 축압기 N₂ 충진 및 전수점검</a:t>
                      </a:r>
                    </a:p>
                  </a:txBody>
                  <a:tcPr marL="50400" marR="50400" marT="216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• 유압계통 기동실패 예방</a:t>
                      </a:r>
                    </a:p>
                  </a:txBody>
                  <a:tcPr marL="50400" marR="50400" marT="21600" marB="14400" anchor="ctr">
                    <a:solidFill>
                      <a:srgbClr val="FFFFFF"/>
                    </a:solidFill>
                  </a:tcPr>
                </a:tc>
              </a:tr>
              <a:tr h="1872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• HRSG 배관 용접부 감육·Crack</a:t>
                      </a:r>
                    </a:p>
                  </a:txBody>
                  <a:tcPr marL="50400" marR="50400" marT="216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• 배관 Sch 40→60 상향 교체</a:t>
                      </a:r>
                    </a:p>
                  </a:txBody>
                  <a:tcPr marL="50400" marR="50400" marT="216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• 증기누설에 의한 파급손상 예방</a:t>
                      </a:r>
                    </a:p>
                  </a:txBody>
                  <a:tcPr marL="50400" marR="50400" marT="21600" marB="14400" anchor="ctr">
                    <a:solidFill>
                      <a:srgbClr val="FFFFFF"/>
                    </a:solidFill>
                  </a:tcPr>
                </a:tc>
              </a:tr>
              <a:tr h="1872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• 노후 해수배관 내부코팅 손상</a:t>
                      </a:r>
                    </a:p>
                  </a:txBody>
                  <a:tcPr marL="50400" marR="50400" marT="216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• 내부코팅 및 희생금속 교체</a:t>
                      </a:r>
                    </a:p>
                  </a:txBody>
                  <a:tcPr marL="50400" marR="50400" marT="216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• 배관 건전성 확보로 용량요금 보전</a:t>
                      </a:r>
                    </a:p>
                  </a:txBody>
                  <a:tcPr marL="50400" marR="50400" marT="21600" marB="144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8" name="Rectangle 27"/>
          <p:cNvSpPr/>
          <p:nvPr/>
        </p:nvSpPr>
        <p:spPr>
          <a:xfrm>
            <a:off x="468000" y="6192000"/>
            <a:ext cx="306000" cy="259200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1999" y="6220800"/>
            <a:ext cx="6210000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부서단위 주요업무 추진 및 운영 내실화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8000" y="6480000"/>
            <a:ext cx="6623999" cy="1270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68000" y="6570000"/>
            <a:ext cx="666000" cy="266400"/>
          </a:xfrm>
          <a:prstGeom prst="rect">
            <a:avLst/>
          </a:prstGeom>
          <a:solidFill>
            <a:srgbClr val="D9D9D9"/>
          </a:solidFill>
          <a:ln w="9525">
            <a:solidFill>
              <a:srgbClr val="A6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추진배경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134000" y="6570000"/>
            <a:ext cx="5957999" cy="266400"/>
          </a:xfrm>
          <a:prstGeom prst="rect">
            <a:avLst/>
          </a:prstGeom>
          <a:noFill/>
          <a:ln w="9525">
            <a:solidFill>
              <a:srgbClr val="A6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9200" rIns="36000" tIns="28800" bIns="1800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• CEO 경영방침 『행복동행』 : 사업소 안전문화 정착 기여 및 안전한 일터 구현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8000" y="6937200"/>
            <a:ext cx="6623999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□ </a:t>
            </a:r>
            <a:r>
              <a:rPr sz="12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(행복동행) </a:t>
            </a:r>
            <a:r>
              <a:rPr sz="12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안전 최우선 정비문화 정착 및 정비기준 체계화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76000" y="7182000"/>
            <a:ext cx="6515999" cy="64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○ (안전 4칙) ①위험성평가, ②PTW·TBM, ③구역설정, ④전·후 감독 확인 및 보고</a:t>
            </a:r>
          </a:p>
          <a:p>
            <a:pPr>
              <a:lnSpc>
                <a:spcPct val="105000"/>
              </a:lnSpc>
              <a:spcBef>
                <a:spcPts val="100"/>
              </a:spcBef>
              <a:spcAft>
                <a:spcPts val="0"/>
              </a:spcAft>
            </a:pPr>
            <a:r>
              <a:rPr sz="10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○ (안전문화) 사업소 최초 부서 자체 TBM(Today Business Meeting) 매일 시행</a:t>
            </a:r>
          </a:p>
          <a:p>
            <a:pPr>
              <a:lnSpc>
                <a:spcPct val="105000"/>
              </a:lnSpc>
              <a:spcBef>
                <a:spcPts val="100"/>
              </a:spcBef>
              <a:spcAft>
                <a:spcPts val="0"/>
              </a:spcAft>
            </a:pPr>
            <a:r>
              <a:rPr sz="10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○ (정비기준) 가스터빈·증기터빈·HRSG 대상 정비기준 수립 및 점검주기 재설정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68000" y="7801200"/>
            <a:ext cx="6623999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□ </a:t>
            </a:r>
            <a:r>
              <a:rPr sz="12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(안전정비) </a:t>
            </a:r>
            <a:r>
              <a:rPr sz="12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불안전행동을 유발하는 비정상 안전시설 정상화</a:t>
            </a:r>
          </a:p>
        </p:txBody>
      </p:sp>
      <p:graphicFrame>
        <p:nvGraphicFramePr>
          <p:cNvPr id="36" name="Table 35"/>
          <p:cNvGraphicFramePr>
            <a:graphicFrameLocks noGrp="1"/>
          </p:cNvGraphicFramePr>
          <p:nvPr/>
        </p:nvGraphicFramePr>
        <p:xfrm>
          <a:off x="522000" y="8046000"/>
          <a:ext cx="3078000" cy="7848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56000"/>
                <a:gridCol w="2322000"/>
              </a:tblGrid>
              <a:tr h="2232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개선분야</a:t>
                      </a:r>
                    </a:p>
                  </a:txBody>
                  <a:tcPr marL="43200" marR="43200" marT="14400" marB="1440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주요 추진 계획</a:t>
                      </a:r>
                    </a:p>
                  </a:txBody>
                  <a:tcPr marL="43200" marR="43200" marT="14400" marB="14400" anchor="ctr">
                    <a:solidFill>
                      <a:srgbClr val="D9D9D9"/>
                    </a:solidFill>
                  </a:tcPr>
                </a:tc>
              </a:tr>
              <a:tr h="1872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① 화재위험</a:t>
                      </a:r>
                    </a:p>
                  </a:txBody>
                  <a:tcPr marL="50400" marR="50400" marT="216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Enclosure 내부·NG Line 개선(33개소)</a:t>
                      </a:r>
                    </a:p>
                  </a:txBody>
                  <a:tcPr marL="50400" marR="50400" marT="21600" marB="14400" anchor="ctr">
                    <a:solidFill>
                      <a:srgbClr val="FFFFFF"/>
                    </a:solidFill>
                  </a:tcPr>
                </a:tc>
              </a:tr>
              <a:tr h="1872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① 화재위험</a:t>
                      </a:r>
                    </a:p>
                  </a:txBody>
                  <a:tcPr marL="50400" marR="50400" marT="216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전호기 정지·가스배관 퍼지기간 활용</a:t>
                      </a:r>
                    </a:p>
                  </a:txBody>
                  <a:tcPr marL="50400" marR="50400" marT="21600" marB="14400" anchor="ctr">
                    <a:solidFill>
                      <a:srgbClr val="FFFFFF"/>
                    </a:solidFill>
                  </a:tcPr>
                </a:tc>
              </a:tr>
              <a:tr h="1872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② 떨어짐</a:t>
                      </a:r>
                    </a:p>
                  </a:txBody>
                  <a:tcPr marL="50400" marR="50400" marT="216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안전난간·발끝막이판 설치(40개소)</a:t>
                      </a:r>
                    </a:p>
                  </a:txBody>
                  <a:tcPr marL="50400" marR="50400" marT="21600" marB="144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7" name="Table 36"/>
          <p:cNvGraphicFramePr>
            <a:graphicFrameLocks noGrp="1"/>
          </p:cNvGraphicFramePr>
          <p:nvPr/>
        </p:nvGraphicFramePr>
        <p:xfrm>
          <a:off x="3924000" y="8046000"/>
          <a:ext cx="3078000" cy="7848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56000"/>
                <a:gridCol w="2322000"/>
              </a:tblGrid>
              <a:tr h="2232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개선분야</a:t>
                      </a:r>
                    </a:p>
                  </a:txBody>
                  <a:tcPr marL="43200" marR="43200" marT="14400" marB="1440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주요 추진 계획</a:t>
                      </a:r>
                    </a:p>
                  </a:txBody>
                  <a:tcPr marL="43200" marR="43200" marT="14400" marB="14400" anchor="ctr">
                    <a:solidFill>
                      <a:srgbClr val="D9D9D9"/>
                    </a:solidFill>
                  </a:tcPr>
                </a:tc>
              </a:tr>
              <a:tr h="1872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③ 맞  음</a:t>
                      </a:r>
                    </a:p>
                  </a:txBody>
                  <a:tcPr marL="50400" marR="50400" marT="216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낙하물 방지 그물망 설치(4개소)</a:t>
                      </a:r>
                    </a:p>
                  </a:txBody>
                  <a:tcPr marL="50400" marR="50400" marT="21600" marB="14400" anchor="ctr">
                    <a:solidFill>
                      <a:srgbClr val="FFFFFF"/>
                    </a:solidFill>
                  </a:tcPr>
                </a:tc>
              </a:tr>
              <a:tr h="1872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④ 중량물</a:t>
                      </a:r>
                    </a:p>
                  </a:txBody>
                  <a:tcPr marL="50400" marR="50400" marT="216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밸브·팬 전용 인양시설 설치(10개소)</a:t>
                      </a:r>
                    </a:p>
                  </a:txBody>
                  <a:tcPr marL="50400" marR="50400" marT="21600" marB="14400" anchor="ctr">
                    <a:solidFill>
                      <a:srgbClr val="FFFFFF"/>
                    </a:solidFill>
                  </a:tcPr>
                </a:tc>
              </a:tr>
              <a:tr h="1872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⑤ 부딪힘</a:t>
                      </a:r>
                    </a:p>
                  </a:txBody>
                  <a:tcPr marL="50400" marR="50400" marT="216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크레인 작업반경 LED 표시(3개소)</a:t>
                      </a:r>
                    </a:p>
                  </a:txBody>
                  <a:tcPr marL="50400" marR="50400" marT="21600" marB="144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8" name="TextBox 37"/>
          <p:cNvSpPr txBox="1"/>
          <p:nvPr/>
        </p:nvSpPr>
        <p:spPr>
          <a:xfrm>
            <a:off x="3689999" y="8323200"/>
            <a:ext cx="324000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+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68000" y="8881200"/>
            <a:ext cx="6623999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끝.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68000" y="10188000"/>
            <a:ext cx="6623999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- 1 -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