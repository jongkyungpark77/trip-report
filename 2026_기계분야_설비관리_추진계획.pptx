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68000" y="288000"/>
            <a:ext cx="662399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F3A5F"/>
                </a:solidFill>
                <a:latin typeface="맑은 고딕"/>
                <a:ea typeface="맑은 고딕"/>
                <a:cs typeface="맑은 고딕"/>
              </a:rPr>
              <a:t>2026년 기계분야 설비관리 추진계획</a:t>
            </a:r>
          </a:p>
        </p:txBody>
      </p:sp>
      <p:sp>
        <p:nvSpPr>
          <p:cNvPr id="3" name="Rectangle 2"/>
          <p:cNvSpPr/>
          <p:nvPr/>
        </p:nvSpPr>
        <p:spPr>
          <a:xfrm>
            <a:off x="1044000" y="612000"/>
            <a:ext cx="5471999" cy="190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68000" y="655200"/>
            <a:ext cx="6623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보령복합 기계기술부  |  추진기간 : '26.1.1 ~ '26.12.31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000" y="892800"/>
            <a:ext cx="666000" cy="626400"/>
          </a:xfrm>
          <a:prstGeom prst="rect">
            <a:avLst/>
          </a:prstGeom>
          <a:solidFill>
            <a:srgbClr val="BFBFBF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추진개요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4000" y="892800"/>
            <a:ext cx="5957999" cy="6264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36000" tIns="324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CEO 경영방침 『가치창출』·『혁신도전』·『행복동행』 연계 4대 분야 중점 추진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유연운전 심화(실시간 전력거래 개시)로 기동·정지 빈번 → 열피로 누적 및 취약설비 손상 빈도 증가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6호기 복합 체제 정착에 따른 정비비 증가 → 국산화·자재 공동운영을 통한 원가절감 시급</a:t>
            </a:r>
          </a:p>
        </p:txBody>
      </p:sp>
      <p:sp>
        <p:nvSpPr>
          <p:cNvPr id="7" name="Rectangle 6"/>
          <p:cNvSpPr/>
          <p:nvPr/>
        </p:nvSpPr>
        <p:spPr>
          <a:xfrm>
            <a:off x="468000" y="1627200"/>
            <a:ext cx="306000" cy="25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1999" y="1656000"/>
            <a:ext cx="621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추진목표 설정 및 조직·정부 경영평가 지표 연계</a:t>
            </a:r>
          </a:p>
        </p:txBody>
      </p:sp>
      <p:sp>
        <p:nvSpPr>
          <p:cNvPr id="9" name="Rectangle 8"/>
          <p:cNvSpPr/>
          <p:nvPr/>
        </p:nvSpPr>
        <p:spPr>
          <a:xfrm>
            <a:off x="468000" y="1915200"/>
            <a:ext cx="6623999" cy="127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8000" y="2005200"/>
            <a:ext cx="666000" cy="266400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추진배경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34000" y="2005200"/>
            <a:ext cx="5957999" cy="2664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36000" tIns="288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조직평가 우수 달성 및 정부 경영평가 대응을 위한 정량 목표체계 수립 필요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23724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(목표체계)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'26년 4대 추진목표 및 정량 지표 설정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8000" y="2617200"/>
          <a:ext cx="6516000" cy="1058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0000"/>
                <a:gridCol w="2124000"/>
                <a:gridCol w="1440000"/>
                <a:gridCol w="1512000"/>
              </a:tblGrid>
              <a:tr h="22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 목표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 지표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'25년 실적(현황)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'26년 목표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</a:tr>
              <a:tr h="20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① 설비 신뢰도 확보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불시정지 / 강제 출력감발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0건 / 2건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0건 / 0건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② 재무성과 창출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정비비·기회손실 절감액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지표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9.5억원 이상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③ 안전 최우선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안전취약개소 개선 / 중대재해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미착수 / 0건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73개소 / 0건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08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④ 기술자립 강화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특허 출원 / 국산화 개발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7건 / 1종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14건 / 3종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68000" y="37836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(지표연계)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조직평가·정부 경영평가 지표와의 연계성 확보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58000" y="4028400"/>
          <a:ext cx="6516000" cy="141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4000"/>
                <a:gridCol w="2376000"/>
                <a:gridCol w="3276000"/>
              </a:tblGrid>
              <a:tr h="22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 분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지표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추진성과의 기여 내용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조직평가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발전설비 신뢰도(불시정지·고장정지)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취약설비 선제정비로 비계획정지 0건 유지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조직평가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예산절감 / 정비비 절감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국산화·공동운영으로 9.5억원 절감 기여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조직평가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안전관리(중대재해 예방)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안전취약개소 73개소 개선, 재해 0건 달성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경영평가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 및 재난관리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아차사고 기반 중량물 작업안전 강화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경영평가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재무성과관리(원가절감)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예비품 공동운영 연 5억원 예산절감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경영평가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혁신노력 / 상생·협력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중소기업 협업 국산화 3종, 현장기술개발 1건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76000" y="5504400"/>
            <a:ext cx="6515999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5959"/>
                </a:solidFill>
                <a:latin typeface="맑은 고딕"/>
                <a:ea typeface="맑은 고딕"/>
                <a:cs typeface="맑은 고딕"/>
              </a:rPr>
              <a:t>※ 지표명은 '26년 조직평가 편람 및 정부 경영평가 지표 기준으로 최종 확인 후 확정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8000" y="5706000"/>
            <a:ext cx="306000" cy="25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1999" y="5734800"/>
            <a:ext cx="621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성과창출을 위한 추진전략 및 추진체계 구축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8000" y="5994000"/>
            <a:ext cx="6623999" cy="127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6084000"/>
            <a:ext cx="666000" cy="266400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추진배경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34000" y="6084000"/>
            <a:ext cx="5957999" cy="2664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36000" tIns="288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단계별 추진전략 수립 및 부서 내·외 협업체계 구축으로 실행력 확보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000" y="64512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(추진체계)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3단계 추진 로드맵 수립 및 분과별 역할 분담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8000" y="6696000"/>
            <a:ext cx="2015999" cy="59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1단계  진단 (1~3월)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고장이력·통계 분석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취약설비 Pool 선정</a:t>
            </a:r>
          </a:p>
        </p:txBody>
      </p:sp>
      <p:sp>
        <p:nvSpPr>
          <p:cNvPr id="24" name="Can 23"/>
          <p:cNvSpPr/>
          <p:nvPr/>
        </p:nvSpPr>
        <p:spPr>
          <a:xfrm>
            <a:off x="2606399" y="6913800"/>
            <a:ext cx="136800" cy="158400"/>
          </a:xfrm>
          <a:prstGeom prst="can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71999" y="6696000"/>
            <a:ext cx="2015999" cy="59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2단계  개선 (4~10월)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계획정지 연계 정비 시행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국산화·공동운영 착수</a:t>
            </a:r>
          </a:p>
        </p:txBody>
      </p:sp>
      <p:sp>
        <p:nvSpPr>
          <p:cNvPr id="26" name="Can 25"/>
          <p:cNvSpPr/>
          <p:nvPr/>
        </p:nvSpPr>
        <p:spPr>
          <a:xfrm>
            <a:off x="4820398" y="6913800"/>
            <a:ext cx="136800" cy="158400"/>
          </a:xfrm>
          <a:prstGeom prst="can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85998" y="6696000"/>
            <a:ext cx="2015999" cy="59400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360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3단계  정착·확산 (11~12월)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정비기준 표준화</a:t>
            </a:r>
          </a:p>
          <a:p>
            <a:pPr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타 사업소 수평전개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000" y="73980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(협업)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유관부서·기관 협업 및 이해관계 조정으로 추진 장애 해소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558000" y="7642800"/>
          <a:ext cx="6516000" cy="102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2000"/>
                <a:gridCol w="2736000"/>
                <a:gridCol w="2808000"/>
              </a:tblGrid>
              <a:tr h="22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협업 대상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협업 내용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이해관계 조정 사항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발전운영실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계획정지 기간 연계 기회정비 시행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급전대기·타 사유 정지 정보 상시 공유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인천복합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핵심자재 공동운영 TF 공동 운영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자재 보관 책임 및 정수유지 기준 합의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기술기획부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현장기술개발 과제 협약, 특허출원 지원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과제 선정 및 개발 예산 확보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전문기업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반출정비·배관지지장치·R&amp;D 수행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단가계약 체결로 적기 정비 여건 확보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468000" y="10188000"/>
            <a:ext cx="6623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- 1 -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8000" y="511200"/>
            <a:ext cx="306000" cy="25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1999" y="540000"/>
            <a:ext cx="621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분야별 세부 추진계획 및 창출 목표 성과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468000" y="799200"/>
            <a:ext cx="6623999" cy="127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8000" y="889200"/>
            <a:ext cx="666000" cy="266400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추진배경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4000" y="889200"/>
            <a:ext cx="5957999" cy="2664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36000" tIns="288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CEO 경영방침 『가치창출』 : 전 분야 설비개선을 통한 정비비 절감 및 정비품질 개선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2564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(설비신뢰도)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고장이력 기반 취약설비 선제정비로 불시정지 Zero 실현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8000" y="1501200"/>
          <a:ext cx="6515999" cy="163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0000"/>
                <a:gridCol w="2520000"/>
                <a:gridCol w="2015999"/>
              </a:tblGrid>
              <a:tr h="22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 및 문제점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 계획 (전 → 후)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기대 효과 (정량)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</a:tr>
              <a:tr h="352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가스터빈 연소가스 온도 불균형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('26.3·4월 강제 출력감발 2회)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스트레이너 이격거리 확보·재질 개선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점검주기 6,000 → 3,000 EOH 단축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강제 출력감발 2건 → 0건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연소온도 편차 최소화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ST #2 작동유 축압기 손상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('26.5.20 보호로직 기동실패)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축압기 N₂ 충진(28Bar)·전수점검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경상정비 예방점검 항목 신설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유압계통 기인 기동실패 0건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유압설비 자재 보유율 100%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HRSG HRH 배관 용접부 감육 및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Crack 반복 발생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배관 Sch 40 → Sch 60 상향 교체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배관지지장치 정비(53개소 → 전 호기)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증기계통 파급손상 0건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응력해석 기반 하중 불균형 해소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3528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ST #3 BRG Temp 불균형('26.2월)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 ST #2 BRG Oil 비산('26.8월)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BRG·Oil Deflector 전문기업 반출정비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중간정비·MEB 공사 기간 활용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BRG 평균온도 99→85℃(△14℃)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• TC 온도편차 42 → 11℃ (△31℃)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68000" y="32436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(재무성과)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국산화·기회정비·공동운영으로 정비비 9.5억원 절감</a:t>
            </a:r>
            <a:r>
              <a:rPr sz="950" b="1">
                <a:solidFill>
                  <a:srgbClr val="C00000"/>
                </a:solidFill>
                <a:latin typeface="맑은 고딕"/>
                <a:ea typeface="맑은 고딕"/>
                <a:cs typeface="맑은 고딕"/>
              </a:rPr>
              <a:t>  (목표 9.49억원)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58000" y="3488400"/>
          <a:ext cx="6516000" cy="141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4000"/>
                <a:gridCol w="3996000"/>
                <a:gridCol w="936000"/>
              </a:tblGrid>
              <a:tr h="22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절감 항목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 근거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절감액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HRSG HP BP CV 국산화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인천복합 실증완료품 적용, 조달기간 6개월 단축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1.70억원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가스밸브 O-Ring 국산화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패싱 20회↓ × 3,000kW × 18Hr × 110.03원/kWh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1.20억원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Barring Device 국산화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Fast Cooling 100회 × 3,000kW × 1Hr × 110.03원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0.33억원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HRSG Tube Leak 기회정비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450MW × 3일 × CP 8.73원/kWh × 2회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5.66억원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펌프 예비품 호환 활용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 모델(EWV-150D) 활용, 복구기간 2개월 단축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0.60억원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198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  계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정비비·기회손실 절감 (별도 : 공동운영 5억원, Rotor 88억원)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9.49억원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8000" y="50076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(안전·기술)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안전취약개소 개선 및 기술자립 역량 확보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58000" y="5252400"/>
          <a:ext cx="6515999" cy="123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7999"/>
                <a:gridCol w="4140000"/>
                <a:gridCol w="1548000"/>
              </a:tblGrid>
              <a:tr h="22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 야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추진 계획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안전정비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1단계 Enclosure 내부·NG Line 33개소 → 2단계 외부 40개소 개선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73개소 / 재해 0건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안전문화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 4칙(위험성평가·작업허가·구역설정·전후 감독) 및 자체 TBM 매일 시행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불안전행동 Zero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기술자립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→ 월 1회 실적관리 → 출원의 특허 발굴 체계 운영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특허 14건 출원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국산화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HP BP CV, 가스밸브 O-Ring, Barring Device Spring 역설계·실증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국산화 3종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연구개발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HRSG 신축이음관 고성능·고내구성 과제 수행('25.12~'27.11)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특허 1건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68000" y="65916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(추진일정)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월별 추진일정 및 계획정지 연계 정비 시기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58000" y="6836400"/>
          <a:ext cx="6516000" cy="1569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0000"/>
                <a:gridCol w="393000"/>
                <a:gridCol w="393000"/>
                <a:gridCol w="393000"/>
                <a:gridCol w="393000"/>
                <a:gridCol w="393000"/>
                <a:gridCol w="393000"/>
                <a:gridCol w="393000"/>
                <a:gridCol w="393000"/>
                <a:gridCol w="393000"/>
                <a:gridCol w="393000"/>
                <a:gridCol w="393000"/>
                <a:gridCol w="393000"/>
              </a:tblGrid>
              <a:tr h="18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      분</a:t>
                      </a:r>
                    </a:p>
                  </a:txBody>
                  <a:tcPr marL="14400" marR="14400" marT="7200" marB="72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</a:t>
                      </a:r>
                    </a:p>
                  </a:txBody>
                  <a:tcPr marL="14400" marR="14400" marT="7200" marB="72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2월</a:t>
                      </a:r>
                    </a:p>
                  </a:txBody>
                  <a:tcPr marL="14400" marR="14400" marT="7200" marB="72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3월</a:t>
                      </a:r>
                    </a:p>
                  </a:txBody>
                  <a:tcPr marL="14400" marR="14400" marT="7200" marB="72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4월</a:t>
                      </a:r>
                    </a:p>
                  </a:txBody>
                  <a:tcPr marL="14400" marR="14400" marT="7200" marB="72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5월</a:t>
                      </a:r>
                    </a:p>
                  </a:txBody>
                  <a:tcPr marL="14400" marR="14400" marT="7200" marB="72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6월</a:t>
                      </a:r>
                    </a:p>
                  </a:txBody>
                  <a:tcPr marL="14400" marR="14400" marT="7200" marB="72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7월</a:t>
                      </a:r>
                    </a:p>
                  </a:txBody>
                  <a:tcPr marL="14400" marR="14400" marT="7200" marB="72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8월</a:t>
                      </a:r>
                    </a:p>
                  </a:txBody>
                  <a:tcPr marL="14400" marR="14400" marT="7200" marB="72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9월</a:t>
                      </a:r>
                    </a:p>
                  </a:txBody>
                  <a:tcPr marL="14400" marR="14400" marT="7200" marB="72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10월</a:t>
                      </a:r>
                    </a:p>
                  </a:txBody>
                  <a:tcPr marL="14400" marR="14400" marT="7200" marB="72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11월</a:t>
                      </a:r>
                    </a:p>
                  </a:txBody>
                  <a:tcPr marL="14400" marR="14400" marT="7200" marB="72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12월</a:t>
                      </a:r>
                    </a:p>
                  </a:txBody>
                  <a:tcPr marL="14400" marR="14400" marT="7200" marB="7200" anchor="ctr">
                    <a:solidFill>
                      <a:srgbClr val="D9D9D9"/>
                    </a:solidFill>
                  </a:tcPr>
                </a:tc>
              </a:tr>
              <a:tr h="172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설비 진단 및 정비계획 수립</a:t>
                      </a:r>
                    </a:p>
                  </a:txBody>
                  <a:tcPr marL="50400" marR="144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D6DE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D6DE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D6DE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</a:tr>
              <a:tr h="172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해빙기·하절기 취약설비 정비</a:t>
                      </a:r>
                    </a:p>
                  </a:txBody>
                  <a:tcPr marL="50400" marR="144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</a:tr>
              <a:tr h="172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노후 해수냉각수 배관 코팅</a:t>
                      </a:r>
                    </a:p>
                  </a:txBody>
                  <a:tcPr marL="50400" marR="144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D6DE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D6DE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D6DE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D6DE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D6DE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D6DE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</a:tr>
              <a:tr h="172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HRSG Tube Leak 점검·정비</a:t>
                      </a:r>
                    </a:p>
                  </a:txBody>
                  <a:tcPr marL="50400" marR="144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</a:tr>
              <a:tr h="172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핵심자재 공동운영 TF 운영</a:t>
                      </a:r>
                    </a:p>
                  </a:txBody>
                  <a:tcPr marL="50400" marR="144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D6DE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D6DE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D6DEE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</a:tr>
              <a:tr h="172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공기압축기(IAC) 계획예방정비</a:t>
                      </a:r>
                    </a:p>
                  </a:txBody>
                  <a:tcPr marL="50400" marR="144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FFFFFF"/>
                    </a:solidFill>
                  </a:tcPr>
                </a:tc>
              </a:tr>
              <a:tr h="172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안전취약개소 개선(1·2단계)</a:t>
                      </a:r>
                    </a:p>
                  </a:txBody>
                  <a:tcPr marL="50400" marR="144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</a:tr>
              <a:tr h="172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국산화 개발 및 특허 출원</a:t>
                      </a:r>
                    </a:p>
                  </a:txBody>
                  <a:tcPr marL="50400" marR="14400" marT="7200" marB="7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7200" marR="7200" marT="7200" marB="7200" anchor="ctr">
                    <a:solidFill>
                      <a:srgbClr val="596B84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58000" y="8427600"/>
            <a:ext cx="6516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B84"/>
                </a:solidFill>
                <a:latin typeface="맑은 고딕"/>
                <a:ea typeface="맑은 고딕"/>
                <a:cs typeface="맑은 고딕"/>
              </a:rPr>
              <a:t>■ 시행   </a:t>
            </a:r>
            <a:r>
              <a:rPr sz="850" b="0">
                <a:solidFill>
                  <a:srgbClr val="9AAABE"/>
                </a:solidFill>
                <a:latin typeface="맑은 고딕"/>
                <a:ea typeface="맑은 고딕"/>
                <a:cs typeface="맑은 고딕"/>
              </a:rPr>
              <a:t>■ 준비·설계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000" y="10188000"/>
            <a:ext cx="6623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- 2 -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8000" y="486000"/>
            <a:ext cx="306000" cy="25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1999" y="514800"/>
            <a:ext cx="621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기존 방식 대비 혁신성·차별성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468000" y="774000"/>
            <a:ext cx="6623999" cy="127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8000" y="864000"/>
            <a:ext cx="666000" cy="266400"/>
          </a:xfrm>
          <a:prstGeom prst="rect">
            <a:avLst/>
          </a:prstGeom>
          <a:solidFill>
            <a:srgbClr val="D9D9D9"/>
          </a:solidFill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추진배경</a:t>
            </a:r>
          </a:p>
        </p:txBody>
      </p:sp>
      <p:sp>
        <p:nvSpPr>
          <p:cNvPr id="6" name="Rectangle 5"/>
          <p:cNvSpPr/>
          <p:nvPr/>
        </p:nvSpPr>
        <p:spPr>
          <a:xfrm>
            <a:off x="1134000" y="864000"/>
            <a:ext cx="5957999" cy="2664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9200" rIns="36000" tIns="28800" bIns="180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• 통상적·반복적 정비를 넘어 데이터 기반 선제정비 및 사업소 간 협업 모델로 전환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1231200"/>
            <a:ext cx="6623999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(차별화) </a:t>
            </a:r>
            <a:r>
              <a:rPr sz="12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기존 업무방식 대비 개선·혁신사항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58000" y="1476000"/>
          <a:ext cx="6515999" cy="164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2000"/>
                <a:gridCol w="1655999"/>
                <a:gridCol w="2160000"/>
                <a:gridCol w="1908000"/>
              </a:tblGrid>
              <a:tr h="22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 분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기존 방식 ('25년 이전)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'26년 개선 방식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차별화 요소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정비 방식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고장 발생 후 사후정비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고장이력·통계 분석 기반 선제정비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취약설비 Pool 상시관리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 주기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제작사 기준 일괄 적용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손상실적 반영 주기 단축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현장 실증 기반 기준 재설정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자재 운영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사업소별 개별 구매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보령-인천 공동운영(34종)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발전사 최초 자재 공동운영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정비 시기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계획예방정비 기간에 한정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타 사유 계획정지 기간 기회정비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용량요금 손실 5.66억원 예방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확보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외산 의존, 개인경험 잔류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국산화 3종 + 특허 14건 자산화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사상 최다 특허 출원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관리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개별 정비이력 단순 기록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절감액 산출식 표준화·정량 관리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성과 계량화 체계 구축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76000" y="3232800"/>
            <a:ext cx="6515999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○ (최초) 사업소 최초 부서 자체 TBM 매일 시행 및 사업소 간 핵심자재 공동운영 체계 구축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○ (최다) 특허 출원 14건 — '25년 7건 대비 100% 증가, 사상 최다 실적 목표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000" y="3682800"/>
            <a:ext cx="306000" cy="25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999" y="3711600"/>
            <a:ext cx="621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예상 장애요인 및 극복방안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000" y="3970800"/>
            <a:ext cx="6623999" cy="127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58000" y="4060800"/>
          <a:ext cx="6516000" cy="141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000"/>
                <a:gridCol w="4356000"/>
              </a:tblGrid>
              <a:tr h="22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예상 장애요인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극복 방안 및 추진 노력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유연운전 심화로 계획정지 확보 곤란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발전운영실 협업 → 타 사유 정지기간 활용 기회정비 체계화(연 2회 이상)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국산화품 성능 미검증 적용 리스크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인천복합 실증완료품 우선 적용, 역설계·반복피로시험 후 단계적 확대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사업소 간 자재 보관 책임 이견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공동운영 TF 발족(2월)·Kick-off(5월)로 정수유지 및 보관 책임 사전 합의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전문 정비인력 및 기술 확보 한계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전문기업 단가계약 체결, 제작사 입회 점검 및 현장 기술지원 확대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정비물량 집중에 따른 예산 제약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기회정비·중간정비 연계로 공사 분산, 예산 조기 확보 및 단가계약 활용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68000" y="5598000"/>
            <a:ext cx="306000" cy="2592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999" y="5626800"/>
            <a:ext cx="621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기대효과 및 확산계획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000" y="5886000"/>
            <a:ext cx="6623999" cy="127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558000" y="5976000"/>
          <a:ext cx="6516000" cy="1411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6000"/>
                <a:gridCol w="5580000"/>
              </a:tblGrid>
              <a:tr h="22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 분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기대 효과 및 활용·확산 방안</a:t>
                      </a:r>
                    </a:p>
                  </a:txBody>
                  <a:tcPr marL="43200" marR="43200" marT="14400" marB="14400" anchor="ctr">
                    <a:solidFill>
                      <a:srgbClr val="D9D9D9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재무 성과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정비비·기회손실 9.49억원 절감 + 공동운영 5억원 + Rotor 구매비용 88억원 절감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 성과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안전취약개소 73개소 개선으로 중대재해 0건 유지 및 정비여건 향상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성과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특허 14건·국산화 3종 자산화 → 기술료 수입 및 정비역량 향상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조직평가 기여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불시정지 0건 및 절감 9.49억원으로 조직평가 지표 실적 향상에 직접 기여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  <a:tr h="237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활용·확산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공동운영·국산화 모델 타 복합사업소 수평전개, 기관 대표 우수성과(BP) 활용</a:t>
                      </a:r>
                    </a:p>
                  </a:txBody>
                  <a:tcPr marL="50400" marR="50400" marT="21600" marB="14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68000" y="7444800"/>
            <a:ext cx="6623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끝.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000" y="10188000"/>
            <a:ext cx="6623999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- 3 -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