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000" y="306000"/>
            <a:ext cx="662399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2027년 기계분야 설비관리 추진계획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000" y="619200"/>
            <a:ext cx="5183999" cy="190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8000" y="774000"/>
            <a:ext cx="306000" cy="25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1999" y="802800"/>
            <a:ext cx="621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선제적 설비관리를 통한 발전설비 신뢰도 제고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000" y="1062000"/>
            <a:ext cx="6623999" cy="127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8000" y="1152000"/>
            <a:ext cx="666000" cy="453600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추진배경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4000" y="1152000"/>
            <a:ext cx="5957999" cy="4536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36000" tIns="288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CEO 경영방침 『가치창출』 : 설비 신뢰도 확보를 통한 안정적 수익 창출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유연운전 심화(기동·정지 빈번)로 열피로 누적 및 취약설비 손상 빈도 증가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7064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(고장예방)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'26년 고장이력 기반 취약설비 선제정비로 불시정지 Zero 실현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58000" y="1951200"/>
          <a:ext cx="6515999" cy="166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5999"/>
                <a:gridCol w="2592000"/>
                <a:gridCol w="1908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 및 문제점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'27년 추진 계획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 효과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가스터빈 연소가스 온도 불균형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('26년 3·4월 출력감발 2회)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스트레이너 이격거리 확보·재질 개선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TC 위치 근접화, 점검주기 6,000→3,000 EOH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강제 출력감발 0건 달성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연소온도 편차 최소화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ST #2 작동유 축압기 손상에 따른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기동실패 발생('26.05)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축압기 N₂ 압력 상시감시(28Bar)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GT·ST·HRSG 축압기 전수점검 정례화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유압계통 기인 기동실패 예방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주요자재 보유현황 확보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HRSG HRH 배관 용접부 감육 및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Crack 반복 발생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배관 Sch 상향(40→60) 교체 확대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배관지지장치 정비 전 호기 확대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증기계통 파급손상 예방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배관하중 불균형 해소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노후 해수냉각수 배관 코팅 손상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(1CC 장기사용)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1CC CWP 해수배관 코팅·희생금속 교체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#1 Block 부식배관 외부코팅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배관 건전성으로 용량요금 보전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중간정비·기회비용 최소화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8000" y="37224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(정비품질)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회전기기·유체계통 정비기준 체계화로 정비품질 상향 평준화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3967200"/>
            <a:ext cx="6515999" cy="12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○ (베어링) ST #1~3 BRG·Oil Deflector 전문기업 반출정비 정례화 및 정비기준 수립</a:t>
            </a:r>
          </a:p>
          <a:p>
            <a:pPr lvl="2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    • '26년 성과 확대 : BRG 평균온도 14℃ 감소(99→85℃), TC 온도편차 31℃ 감소(42→11℃)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○ (윤활유) 복합발전 윤활유 정유기 관리기준 시행 및 오염도 정밀분석 연 2회 의무화</a:t>
            </a:r>
          </a:p>
          <a:p>
            <a:pPr lvl="2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    • GT 윤활유 정유기 지속운전, 작동유(Diverter Damper) 물분리도 상시 관리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○ (공기압축기) IAC 최적 운영방안 정착 — 상시 2대 운전 및 DCS 부하운전 상태 감시</a:t>
            </a:r>
          </a:p>
          <a:p>
            <a:pPr lvl="2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    • IAC #A~C 계획예방정비(EOH 4,380 도래 전) 시행으로 최적 운전상태 상시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" y="50940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(계절대비)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계절변화·피크기간 대비 취약설비 일제점검으로 비계획정지 예방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58000" y="5338800"/>
          <a:ext cx="6516000" cy="110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"/>
                <a:gridCol w="3924000"/>
                <a:gridCol w="1404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 분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추진 계획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 고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해빙기(2월)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복수기 튜브·내부점검, WTR Box Plugging 점검, ST BRG 현장정비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 사유 정지기간 활용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하절기(6월)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CCW H/E Tube Cleaning, HP BFP Bearing 교체, Coarse Screen 교체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복수기 진공도 저하 예방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피크 전(10~11월)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HRSG #1~6 Tube Leak Test 및 취약부 보강, 연돌 STM 누설 감시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용량요금 손실 예방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68000" y="6555600"/>
            <a:ext cx="306000" cy="25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999" y="6584400"/>
            <a:ext cx="621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설비 효율적 운영을 통한 정비비 절감 및 재무성과 창출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" y="6843600"/>
            <a:ext cx="6623999" cy="127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000" y="6933600"/>
            <a:ext cx="666000" cy="453600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추진배경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4000" y="6933600"/>
            <a:ext cx="5957999" cy="4536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36000" tIns="288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CEO 경영방침 『가치창출』 : 경영효율성 제고를 통한 수익 창출 및 정비품질 개선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'26년 정비비 절감 9.5억원 달성 → '27년 12억원 이상으로 확대 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" y="74880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(자재효율)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핵심자재 공동운영 확대를 통한 예비품 운영 효율화</a:t>
            </a:r>
            <a:r>
              <a:rPr sz="9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  (연 5억원 절감)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8000" y="7732800"/>
            <a:ext cx="2015999" cy="630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('26년) 공동운영 착수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핵심자재 597종 선정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공동운영 자재 34종 확정</a:t>
            </a:r>
          </a:p>
        </p:txBody>
      </p:sp>
      <p:sp>
        <p:nvSpPr>
          <p:cNvPr id="22" name="Can 21"/>
          <p:cNvSpPr/>
          <p:nvPr/>
        </p:nvSpPr>
        <p:spPr>
          <a:xfrm>
            <a:off x="2606399" y="7968600"/>
            <a:ext cx="136800" cy="158400"/>
          </a:xfrm>
          <a:prstGeom prst="can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71999" y="7732800"/>
            <a:ext cx="2015999" cy="630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('27년) 대상 확대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공동운영 자재 34→60종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GT MOP 외 ST·HRSG 확대</a:t>
            </a:r>
          </a:p>
        </p:txBody>
      </p:sp>
      <p:sp>
        <p:nvSpPr>
          <p:cNvPr id="24" name="Can 23"/>
          <p:cNvSpPr/>
          <p:nvPr/>
        </p:nvSpPr>
        <p:spPr>
          <a:xfrm>
            <a:off x="4820398" y="7968600"/>
            <a:ext cx="136800" cy="158400"/>
          </a:xfrm>
          <a:prstGeom prst="can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5998" y="7732800"/>
            <a:ext cx="2015999" cy="630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('27년) 성과 창출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연평균 5억원 예산절감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구매·수의계약 건수 감소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8470800"/>
            <a:ext cx="651599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○ (산출근거) 핵심자재 평균단가 5천만원 × 미구매 10종(보령 5종, 인천 5종) = 연 5억원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○ (예비품) GT 예비 Rotor 건전성 확보 정비 시행 → 신규 구매비용 88억원 절감 효과 유지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○ (호환활용) 타 모델 예비품 활용 표준절차 수립 — Pump(EWV-150D) 사례 전 회전기기 확대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" y="10188000"/>
            <a:ext cx="6623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- 1 -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000" y="4680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(원가절감)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국산화 개발 및 기회정비 활용으로 정비비·기회손실 동시 절감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8000" y="712800"/>
          <a:ext cx="6480000" cy="148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/>
                <a:gridCol w="936000"/>
                <a:gridCol w="3744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절감 항목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'26년 실적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'27년 추진 계획 및 목표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20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HRSG HP BP CV 국산화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1.70억원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1CC 적용 완료 및 2·3CC 확대(조달기간 6개월 단축)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가스밸브 내부부품 국산화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1.20억원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고경도(Shore A 90) AED O-Ring 전 호기 확대 적용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Barring Device 국산화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0.33억원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Shot Peening 시제품 실증 및 반복피로시험 완료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HRSG Tube Leak 기회정비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5.66억원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 사유 계획정지 기간 활용 정비 연 2회 이상 시행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펌프 예비품 호환 활용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0.60억원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유형 회전기기 호환 DB 구축 및 확대 적용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  계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9.49억원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'27년 목표 12.0억원 이상 (전년 대비 +26%)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68000" y="2358000"/>
            <a:ext cx="306000" cy="25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1999" y="2386800"/>
            <a:ext cx="621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안전 최우선 정비문화 정착 및 기술자립 역량 강화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000" y="2646000"/>
            <a:ext cx="6623999" cy="127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8000" y="2736000"/>
            <a:ext cx="666000" cy="453600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추진배경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4000" y="2736000"/>
            <a:ext cx="5957999" cy="4536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36000" tIns="288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CEO 경영방침 『행복동행』·『혁신도전』 : 안전한 일터 구현 및 혁신기술 활성화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설비 국산화·특허 확대에 따라 현장 개선기술의 자산화 체계 고도화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32904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(안전정비)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안전취약개소 정비를 통한 정비여건 향상 및 중대재해 Zero 실현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58000" y="3535200"/>
          <a:ext cx="6480000" cy="124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2000"/>
                <a:gridCol w="3456000"/>
                <a:gridCol w="2052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개선분야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추진 계획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 효과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화재위험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1단계 Enclosure 내부·NG 공급 Line 33개소(완료)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2단계 #1~6 Enclosure 외부 40개소 ('27년 완료)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NG 구역 화기작업 여건 확보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안전지적건수 해소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떨어짐·맞음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Gas Pre-Heater 보강, TBN Room 안전난간 설치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Enclosure 내부 발끝막이판·낙하물 방지망 설치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고소작업 재해 예방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정비 접근성 향상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안전 4칙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①위험성평가 ②작업허가 ③구역설정 ④전·후 감독 확인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부서 자체 TBM 매일 시행 및 합동 위험성평가 정착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불안전행동 기인 재해 예방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안전문화 현장 정착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8000" y="48924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(기술자립)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국산화·연구개발·특허 발굴을 통한 기술자립 역량 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8000" y="5137200"/>
            <a:ext cx="2015999" cy="630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교 육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특허출원 사례 및 방법 교육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타 부서 협업 사례 공유</a:t>
            </a:r>
          </a:p>
        </p:txBody>
      </p:sp>
      <p:sp>
        <p:nvSpPr>
          <p:cNvPr id="13" name="Can 12"/>
          <p:cNvSpPr/>
          <p:nvPr/>
        </p:nvSpPr>
        <p:spPr>
          <a:xfrm>
            <a:off x="2606399" y="5373000"/>
            <a:ext cx="136800" cy="158400"/>
          </a:xfrm>
          <a:prstGeom prst="can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1999" y="5137200"/>
            <a:ext cx="2015999" cy="630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점 검 (월 1회)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특허출원 실적관리 및 독려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설비개선 시 특허가능성 검토</a:t>
            </a:r>
          </a:p>
        </p:txBody>
      </p:sp>
      <p:sp>
        <p:nvSpPr>
          <p:cNvPr id="15" name="Can 14"/>
          <p:cNvSpPr/>
          <p:nvPr/>
        </p:nvSpPr>
        <p:spPr>
          <a:xfrm>
            <a:off x="4820398" y="5373000"/>
            <a:ext cx="136800" cy="158400"/>
          </a:xfrm>
          <a:prstGeom prst="can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5998" y="5137200"/>
            <a:ext cx="2015999" cy="630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 원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고장조치 노하우 발명과제화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('25년 7건 → '26년 14건)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58000" y="5875200"/>
          <a:ext cx="6479998" cy="87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7999"/>
                <a:gridCol w="1655999"/>
                <a:gridCol w="3816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 분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'26년 실적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'27년 목표 및 추진 계획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특허 출원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14건 (사상 최다)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16건 — 고장조치 노하우 발명과제 재정의 및 상시 검토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국산화 개발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3종 (CV·O-Ring·Spring)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5종 — 주증기 밸브, GT 소모성 자재 등 외산 대체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연구개발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1건 (HRSG 신축이음관)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금형·상세설계 확정, 자동화 용접 구축, 시제품 제작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68000" y="6908400"/>
            <a:ext cx="306000" cy="25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999" y="6937200"/>
            <a:ext cx="621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'27년 추진목표 종합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" y="7196400"/>
            <a:ext cx="6623999" cy="127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58000" y="7286400"/>
          <a:ext cx="6479998" cy="143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7999"/>
                <a:gridCol w="2268000"/>
                <a:gridCol w="1368000"/>
                <a:gridCol w="1835999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 분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지표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'26년 실적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'27년 목표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 신뢰도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강제 출력감발 / 불시정지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2건 / 0건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0건 (Zero 유지)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재무 성과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정비비·기회손실 절감액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9.49억원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12.0억원 이상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재무 성과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예비품 공동운영 절감액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5.0억원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5.0억원 이상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 관리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안전취약개소 개선 / 중대재해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33개소 / 0건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40개소 / 0건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자립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특허 출원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자립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국산화 개발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3종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5종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68000" y="8776800"/>
            <a:ext cx="6623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끝.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000" y="10188000"/>
            <a:ext cx="6623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- 2 -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